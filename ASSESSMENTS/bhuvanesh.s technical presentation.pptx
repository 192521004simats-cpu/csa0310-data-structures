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7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1E2761"/>
                </a:solidFill>
                <a:latin typeface="Calibri"/>
              </a:rPr>
              <a:t>Relative Lookup Cost (log scale, arbitrary units)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10,000 products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1B2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Array</c:v>
                </c:pt>
                <c:pt idx="1">
                  <c:v>Linked List</c:v>
                </c:pt>
                <c:pt idx="2">
                  <c:v>BST</c:v>
                </c:pt>
                <c:pt idx="3">
                  <c:v>Hash Table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10000</c:v>
                </c:pt>
                <c:pt idx="1">
                  <c:v>10000</c:v>
                </c:pt>
                <c:pt idx="2">
                  <c:v>14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E8-4496-8943-B753DBCA40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B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logBase val="10"/>
          <c:orientation val="minMax"/>
        </c:scaling>
        <c:delete val="0"/>
        <c:axPos val="l"/>
        <c:majorGridlines>
          <c:spPr>
            <a:ln w="9525" cap="flat">
              <a:solidFill>
                <a:srgbClr val="E4E4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1524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263478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263478"/>
          </a:solidFill>
          <a:ln/>
        </p:spPr>
      </p:sp>
      <p:sp>
        <p:nvSpPr>
          <p:cNvPr id="6" name="Text 3"/>
          <p:cNvSpPr/>
          <p:nvPr/>
        </p:nvSpPr>
        <p:spPr>
          <a:xfrm>
            <a:off x="737235" y="4038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7235" y="769620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Selecting the Right ADT for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Stock Management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37235" y="2593657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Abstract Data Type choice drives performance efficiency for continuously updated product and stock data</a:t>
            </a:r>
            <a:endParaRPr lang="en-US" sz="1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1C06BD-BFA0-D26A-33EC-F468B19930CF}"/>
              </a:ext>
            </a:extLst>
          </p:cNvPr>
          <p:cNvSpPr txBox="1"/>
          <p:nvPr/>
        </p:nvSpPr>
        <p:spPr>
          <a:xfrm>
            <a:off x="8260557" y="4051936"/>
            <a:ext cx="78628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Name : Bhuvanesh . S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Reg no : 192521004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Challenge: Stock That Never Stops Changing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17236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19431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6" y="2038198"/>
            <a:ext cx="541325" cy="5413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764792"/>
            <a:ext cx="4037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Product Catalogs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45920" y="2130552"/>
            <a:ext cx="40370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of thousands of SKUs, each with its own price, quantity, and warehouse location.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23076" y="1600200"/>
            <a:ext cx="5317236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9" name="Shape 6"/>
          <p:cNvSpPr/>
          <p:nvPr/>
        </p:nvSpPr>
        <p:spPr>
          <a:xfrm>
            <a:off x="6524244" y="19431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icons/z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342" y="2038198"/>
            <a:ext cx="541325" cy="5413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20356" y="1764792"/>
            <a:ext cx="4037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Updates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420356" y="2130552"/>
            <a:ext cx="40370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order, return, and restock changes stock counts — often hundreds of times per second.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337560"/>
            <a:ext cx="5317236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14" name="Shape 10"/>
          <p:cNvSpPr/>
          <p:nvPr/>
        </p:nvSpPr>
        <p:spPr>
          <a:xfrm>
            <a:off x="749808" y="36804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icons/c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6" y="3775558"/>
            <a:ext cx="541325" cy="5413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45920" y="3502152"/>
            <a:ext cx="4037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Checkout Checks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645920" y="3867912"/>
            <a:ext cx="40370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must be confirmed in real time before a customer can complete a purchase.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323076" y="3337560"/>
            <a:ext cx="5317236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19" name="Shape 14"/>
          <p:cNvSpPr/>
          <p:nvPr/>
        </p:nvSpPr>
        <p:spPr>
          <a:xfrm>
            <a:off x="6524244" y="36804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/home/claude/icons/ale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9342" y="3775558"/>
            <a:ext cx="541325" cy="5413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20356" y="3502152"/>
            <a:ext cx="4037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Flash-Sale Traffic Spikes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420356" y="3867912"/>
            <a:ext cx="40370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cause sudden surges of concurrent reads and writes on the same records.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48640" y="60807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needs an Abstract Data Type (ADT) that supports fast lookup AND fast update of stock records at scale.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 for E-Commerce Stock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ADTs Considered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32918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Lookup by Product 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Stock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for This Problem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/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— linear scan for every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— no direct addressing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Good, but slower than needed for point lookups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Table (Map)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avg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avg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 — direct key access by product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 stands out: constant-time average access regardless of catalog size.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 for E-Commerce Stock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Hash Table Resolves a Stock Lookup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2356" y="283464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62356" y="29718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2356" y="33649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"SKU-48213"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054096" y="3236976"/>
            <a:ext cx="320040" cy="201168"/>
          </a:xfrm>
          <a:prstGeom prst="rightArrow">
            <a:avLst/>
          </a:prstGeom>
          <a:solidFill>
            <a:srgbClr val="5A5A6E"/>
          </a:solidFill>
          <a:ln/>
        </p:spPr>
      </p:sp>
      <p:sp>
        <p:nvSpPr>
          <p:cNvPr id="7" name="Shape 5"/>
          <p:cNvSpPr/>
          <p:nvPr/>
        </p:nvSpPr>
        <p:spPr>
          <a:xfrm>
            <a:off x="3442716" y="283464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C77B2E"/>
          </a:solidFill>
          <a:ln/>
        </p:spPr>
      </p:sp>
      <p:sp>
        <p:nvSpPr>
          <p:cNvPr id="8" name="Text 6"/>
          <p:cNvSpPr/>
          <p:nvPr/>
        </p:nvSpPr>
        <p:spPr>
          <a:xfrm>
            <a:off x="3442716" y="29718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Function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42716" y="33649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h(key) → index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34456" y="3236976"/>
            <a:ext cx="320040" cy="201168"/>
          </a:xfrm>
          <a:prstGeom prst="rightArrow">
            <a:avLst/>
          </a:prstGeom>
          <a:solidFill>
            <a:srgbClr val="5A5A6E"/>
          </a:solidFill>
          <a:ln/>
        </p:spPr>
      </p:sp>
      <p:sp>
        <p:nvSpPr>
          <p:cNvPr id="11" name="Shape 9"/>
          <p:cNvSpPr/>
          <p:nvPr/>
        </p:nvSpPr>
        <p:spPr>
          <a:xfrm>
            <a:off x="6323076" y="283464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3D5AA6"/>
          </a:solidFill>
          <a:ln/>
        </p:spPr>
      </p:sp>
      <p:sp>
        <p:nvSpPr>
          <p:cNvPr id="12" name="Text 10"/>
          <p:cNvSpPr/>
          <p:nvPr/>
        </p:nvSpPr>
        <p:spPr>
          <a:xfrm>
            <a:off x="6323076" y="29718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/ Slot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23076" y="33649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 index 27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814816" y="3236976"/>
            <a:ext cx="320040" cy="201168"/>
          </a:xfrm>
          <a:prstGeom prst="rightArrow">
            <a:avLst/>
          </a:prstGeom>
          <a:solidFill>
            <a:srgbClr val="5A5A6E"/>
          </a:solidFill>
          <a:ln/>
        </p:spPr>
      </p:sp>
      <p:sp>
        <p:nvSpPr>
          <p:cNvPr id="15" name="Shape 13"/>
          <p:cNvSpPr/>
          <p:nvPr/>
        </p:nvSpPr>
        <p:spPr>
          <a:xfrm>
            <a:off x="9203436" y="283464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2F7D5E"/>
          </a:solidFill>
          <a:ln/>
        </p:spPr>
      </p:sp>
      <p:sp>
        <p:nvSpPr>
          <p:cNvPr id="16" name="Text 14"/>
          <p:cNvSpPr/>
          <p:nvPr/>
        </p:nvSpPr>
        <p:spPr>
          <a:xfrm>
            <a:off x="9203436" y="29718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Record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203436" y="33649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qty: 42, price: 19.99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2976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case: a single hash computation and one array access — independent of how many products exist.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193792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in place: </a:t>
            </a: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order is placed, the same lookup path finds the record and decrements quantity directly — no rewriting of the whole dataset, no shifting of other records.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 for E-Commerce Stock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Efficiency: Relative Access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average-case operation cost as catalog size grows (lower is faster)</a:t>
            </a:r>
            <a:endParaRPr lang="en-US" sz="12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91640"/>
          <a:ext cx="10908792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 for E-Commerce Stock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Sketch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" y="1591970"/>
            <a:ext cx="473659" cy="4736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600200"/>
            <a:ext cx="10177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is modeled as a Map ADT keyed by product ID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1091672" cy="3794760"/>
          </a:xfrm>
          <a:prstGeom prst="roundRect">
            <a:avLst>
              <a:gd name="adj" fmla="val 1928"/>
            </a:avLst>
          </a:prstGeom>
          <a:solidFill>
            <a:srgbClr val="1B2440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331720"/>
            <a:ext cx="10543032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Initialize the ADT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stock = new Map();   // Product ID -&gt; Stock Record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Insert / update a product record        -&gt; O(1) average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stock.set("SKU-48213", { qty: 50, price: 19.99, warehouse: "W3" });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Real-time availability check at checkout -&gt; O(1) average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isAvailable(id, needed) {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record = stock.get(id);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record &amp;&amp; record.qty &gt;= needed;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Apply an order, decrementing stock        -&gt; O(1) average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fulfillOrder(id, qty) {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record = stock.get(id);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record.qty -= qty;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 for E-Commerce Stock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Collisions and Scaling Up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17236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1943100"/>
            <a:ext cx="731520" cy="731520"/>
          </a:xfrm>
          <a:prstGeom prst="ellipse">
            <a:avLst/>
          </a:prstGeom>
          <a:solidFill>
            <a:srgbClr val="3D5AA6"/>
          </a:solidFill>
          <a:ln/>
        </p:spPr>
      </p:sp>
      <p:pic>
        <p:nvPicPr>
          <p:cNvPr id="5" name="Image 0" descr="/home/claude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6" y="2038198"/>
            <a:ext cx="541325" cy="5413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764792"/>
            <a:ext cx="4037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/ Open Addressing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645920" y="2130552"/>
            <a:ext cx="40370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product IDs that hash to the same slot are resolved with a bucket list or probing — average O(1) is preserved.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23076" y="1600200"/>
            <a:ext cx="5317236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9" name="Shape 6"/>
          <p:cNvSpPr/>
          <p:nvPr/>
        </p:nvSpPr>
        <p:spPr>
          <a:xfrm>
            <a:off x="6524244" y="1943100"/>
            <a:ext cx="731520" cy="731520"/>
          </a:xfrm>
          <a:prstGeom prst="ellipse">
            <a:avLst/>
          </a:prstGeom>
          <a:solidFill>
            <a:srgbClr val="3D5AA6"/>
          </a:solidFill>
          <a:ln/>
        </p:spPr>
      </p:sp>
      <p:pic>
        <p:nvPicPr>
          <p:cNvPr id="10" name="Image 1" descr="/home/claude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342" y="2038198"/>
            <a:ext cx="541325" cy="5413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20356" y="1764792"/>
            <a:ext cx="4037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Load-Factor Monitoring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7420356" y="2130552"/>
            <a:ext cx="40370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resizes and rehashes once it gets too full, keeping lookups fast as the catalog grows.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337560"/>
            <a:ext cx="5317236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14" name="Shape 10"/>
          <p:cNvSpPr/>
          <p:nvPr/>
        </p:nvSpPr>
        <p:spPr>
          <a:xfrm>
            <a:off x="749808" y="3680460"/>
            <a:ext cx="731520" cy="731520"/>
          </a:xfrm>
          <a:prstGeom prst="ellipse">
            <a:avLst/>
          </a:prstGeom>
          <a:solidFill>
            <a:srgbClr val="3D5AA6"/>
          </a:solidFill>
          <a:ln/>
        </p:spPr>
      </p:sp>
      <p:pic>
        <p:nvPicPr>
          <p:cNvPr id="15" name="Image 2" descr="/home/claude/icons/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6" y="3775558"/>
            <a:ext cx="541325" cy="5413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45920" y="3502152"/>
            <a:ext cx="4037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 Across Servers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645920" y="3867912"/>
            <a:ext cx="40370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IDs are partitioned across multiple hash-table shards so no single server becomes a bottleneck.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323076" y="3337560"/>
            <a:ext cx="5317236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19" name="Shape 14"/>
          <p:cNvSpPr/>
          <p:nvPr/>
        </p:nvSpPr>
        <p:spPr>
          <a:xfrm>
            <a:off x="6524244" y="3680460"/>
            <a:ext cx="731520" cy="731520"/>
          </a:xfrm>
          <a:prstGeom prst="ellipse">
            <a:avLst/>
          </a:prstGeom>
          <a:solidFill>
            <a:srgbClr val="3D5AA6"/>
          </a:solidFill>
          <a:ln/>
        </p:spPr>
      </p:sp>
      <p:pic>
        <p:nvPicPr>
          <p:cNvPr id="20" name="Image 3" descr="/home/claude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9342" y="3775558"/>
            <a:ext cx="541325" cy="5413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20356" y="3502152"/>
            <a:ext cx="4037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Caching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7420356" y="3867912"/>
            <a:ext cx="40370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like Redis apply the same Map ADT concept across a cluster for high-throughput reads and writes.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 for E-Commerce Stock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Complementary Structures Alongside the Hash Table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947672"/>
            <a:ext cx="731520" cy="731520"/>
          </a:xfrm>
          <a:prstGeom prst="ellipse">
            <a:avLst/>
          </a:prstGeom>
          <a:solidFill>
            <a:srgbClr val="C77B2E"/>
          </a:solidFill>
          <a:ln/>
        </p:spPr>
      </p:sp>
      <p:pic>
        <p:nvPicPr>
          <p:cNvPr id="5" name="Image 0" descr="/home/claude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38" y="2042770"/>
            <a:ext cx="541325" cy="5413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856232"/>
            <a:ext cx="9720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 / Priority Queue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91640" y="2240280"/>
            <a:ext cx="9720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the lowest-stock items first, driving automatic restock alerts and supplier reorder priority.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3364992"/>
            <a:ext cx="731520" cy="731520"/>
          </a:xfrm>
          <a:prstGeom prst="ellipse">
            <a:avLst/>
          </a:prstGeom>
          <a:solidFill>
            <a:srgbClr val="C77B2E"/>
          </a:solidFill>
          <a:ln/>
        </p:spPr>
      </p:sp>
      <p:pic>
        <p:nvPicPr>
          <p:cNvPr id="10" name="Image 1" descr="/home/claude/icons/t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8" y="3460090"/>
            <a:ext cx="541325" cy="5413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273552"/>
            <a:ext cx="9720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(B-Tree / BST)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91640" y="3657600"/>
            <a:ext cx="9720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category browsing and range queries — e.g. “all products priced between $10 and $30.”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452628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4782312"/>
            <a:ext cx="731520" cy="731520"/>
          </a:xfrm>
          <a:prstGeom prst="ellipse">
            <a:avLst/>
          </a:prstGeom>
          <a:solidFill>
            <a:srgbClr val="C77B2E"/>
          </a:solidFill>
          <a:ln/>
        </p:spPr>
      </p:sp>
      <p:pic>
        <p:nvPicPr>
          <p:cNvPr id="15" name="Image 2" descr="/home/claude/icons/l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338" y="4877410"/>
            <a:ext cx="541325" cy="5413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690872"/>
            <a:ext cx="9720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691640" y="5074920"/>
            <a:ext cx="9720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incoming order events during traffic spikes so every stock update is applied in received order.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48640" y="60350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Hash Table remains the backbone for point lookups; these structures add the operations it does not do well.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 for E-Commerce Stock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206240"/>
            <a:ext cx="4206240" cy="4206240"/>
          </a:xfrm>
          <a:prstGeom prst="ellipse">
            <a:avLst/>
          </a:prstGeom>
          <a:solidFill>
            <a:srgbClr val="26347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868680" cy="86868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4" name="Image 0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8" y="753008"/>
            <a:ext cx="642823" cy="6428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68580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993392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" y="1847088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ADT: Hash Table (Map / Dictionary), keyed by Product ID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770632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624328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average lookup and update — independent of catalog size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3547872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401568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high-frequency stock changes without full-dataset rewrites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22960" y="4325112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4178808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via chaining, resizing, sharding, and distributed caching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22960" y="5102352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4956048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with heaps, trees, and queues for alerts, range queries, and ordered processing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2960" y="585216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faster checkouts, accurate availability, and an inventory system that scales with the business.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9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 for E-Commerce Stock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EE837-B34A-D2AB-7F82-5FA36EC22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224" y="381000"/>
            <a:ext cx="8607552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373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834</Words>
  <Application>Microsoft Office PowerPoint</Application>
  <PresentationFormat>Widescreen</PresentationFormat>
  <Paragraphs>120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Bhuvanesh S</cp:lastModifiedBy>
  <cp:revision>2</cp:revision>
  <dcterms:created xsi:type="dcterms:W3CDTF">2026-07-27T04:46:12Z</dcterms:created>
  <dcterms:modified xsi:type="dcterms:W3CDTF">2026-07-27T05:21:03Z</dcterms:modified>
</cp:coreProperties>
</file>